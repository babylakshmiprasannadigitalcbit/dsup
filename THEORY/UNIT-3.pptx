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39E083-D37D-4B4D-A9B5-AD389915871D}">
  <a:tblStyle styleId="{E339E083-D37D-4B4D-A9B5-AD389915871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6c89f48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6c89f48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6c89f4834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6c89f483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6c89f4834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6c89f4834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6c89f4834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6c89f483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6c89f4834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6c89f4834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6c89f4834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6c89f4834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6c89f4834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6c89f4834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6c89f4834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6c89f4834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6c89f4834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6c89f4834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6c89f4834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6c89f4834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6c89f4834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6c89f4834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6c89f4834_1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6c89f4834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c18e59b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c18e59b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c18e59bf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c18e59bf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c18e59bf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c18e59bf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c18e59bf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c18e59bf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c18e59bf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c18e59bf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c18e59bf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c18e59bf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C() → calls super() → goes to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B.__init__() prints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super() inside B → calls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A.__init__() prints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Back to C → prints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c18e59bf0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c18e59bf0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c18e59bf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c18e59bf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c18e59bf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c18e59bf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4f2a8a6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4f2a8a6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4f2a8a66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4f2a8a66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4f2a8a66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c4f2a8a66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4f2a8a66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c4f2a8a66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4f2a8a66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c4f2a8a66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4f2a8a66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4f2a8a66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4f2a8a66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4f2a8a66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4f2a8a66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4f2a8a66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4f2a8a66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c4f2a8a66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4f2a8a66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c4f2a8a66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4f2a8a66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4f2a8a66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4f2a8a66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c4f2a8a66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4f2a8a66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4f2a8a66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4f2a8a66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c4f2a8a66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Execution: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super().show() → prints A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then prints B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6788400" cy="22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is Inheritance?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Inheritance allows a </a:t>
            </a:r>
            <a:r>
              <a:rPr b="1" lang="en" sz="1100">
                <a:solidFill>
                  <a:schemeClr val="dk1"/>
                </a:solidFill>
              </a:rPr>
              <a:t>new class (child/subclass)</a:t>
            </a:r>
            <a:r>
              <a:rPr lang="en" sz="1100">
                <a:solidFill>
                  <a:schemeClr val="dk1"/>
                </a:solidFill>
              </a:rPr>
              <a:t> to acquire properties and methods of an </a:t>
            </a:r>
            <a:r>
              <a:rPr b="1" lang="en" sz="1100">
                <a:solidFill>
                  <a:schemeClr val="dk1"/>
                </a:solidFill>
              </a:rPr>
              <a:t>existing class (parent/superclass)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Promotes: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Code Reusability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Extensibility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Hierarchical classification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Polymorphism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44300" y="24496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Parent: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Child(Parent):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275" y="1480725"/>
            <a:ext cx="5252343" cy="255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0"/>
            <a:ext cx="67884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Basic Inheritance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71425" y="766775"/>
            <a:ext cx="7199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Person: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__init__(self, name):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self.name =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greet(self):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print("Hello, I am", self.name)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Student(Person):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 = Student("Ram")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s.greet()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537075" y="2001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Hello, I am Ram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 Customizing an Existing Class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71425" y="766775"/>
            <a:ext cx="71994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inherit and then: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Add new methods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Override existing methods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Extend behavior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5381000" y="138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Method Overriding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5496350" y="600025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Person: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greet(self):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print("Hello from Person")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Student(Person):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greet(self):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print("Hello from Student")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 = Student()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s.greet()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5537075" y="36574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Hello from Student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496350" y="4152800"/>
            <a:ext cx="350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Child method overrides parent method.</a:t>
            </a:r>
            <a:endParaRPr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Using super() to Extend Behavior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183225" y="59715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Person: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greet(self):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print("Hello from Person")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Student(Person):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greet(self):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super().greet()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print("Hello from Student")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 = Student()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s.greet()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4526000" y="23885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Hello from Person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Hello from Student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607425" y="31213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This is customization without losing original behavior.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0" y="0"/>
            <a:ext cx="67884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What is a Superclass?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</a:t>
            </a:r>
            <a:r>
              <a:rPr b="1" lang="en" sz="1100">
                <a:solidFill>
                  <a:schemeClr val="dk1"/>
                </a:solidFill>
              </a:rPr>
              <a:t>Superclass (Parent Class)</a:t>
            </a:r>
            <a:r>
              <a:rPr lang="en" sz="1100">
                <a:solidFill>
                  <a:schemeClr val="dk1"/>
                </a:solidFill>
              </a:rPr>
              <a:t> is a class whose properties and methods are inherited by another class.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Child class = Subclass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Parent class = Superclass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56075" y="155390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Animal:  # Superclass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speak(self):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print("Animal speaks")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Dog(Animal):  # Subclass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= Dog()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d.speak()</a:t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4261375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Animal speaks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4261375" y="30196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Dog inherited speak()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Animal is the superclass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What is a Superclass?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142500" y="663150"/>
            <a:ext cx="6788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super() is used 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Call methods of the superclass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Access parent class constructor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Extend functionality instead of replacing it</a:t>
            </a:r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257850" y="2096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super() in Method Overriding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39275" y="249695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Animal: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speak(self):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print("Animal sound")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Dog(Animal):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speak(self):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print("Bark")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= Dog()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d.speak()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704950" y="3466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Bark</a:t>
            </a:r>
            <a:endParaRPr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What is a Superclass?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142500" y="603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super() in Method Overriding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223925" y="1004125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Animal: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speak(self):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print("Animal sound")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Dog(Animal):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speak(self):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print("Bark")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= Dog()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d.speak()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264650" y="3412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Bark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618475" y="400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super()</a:t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4953500" y="1004125"/>
            <a:ext cx="3453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Animal: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speak(self):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print("Animal sound")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Dog(Animal):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speak(self):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super().speak()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print("Bark")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 = Dog()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d.speak()</a:t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5001025" y="38126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Animal sound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Bark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6788400" y="3922075"/>
            <a:ext cx="30000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✔ Parent behavior preserved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✔ Child behavior added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is called </a:t>
            </a:r>
            <a:r>
              <a:rPr b="1" lang="en" sz="1100">
                <a:solidFill>
                  <a:schemeClr val="dk1"/>
                </a:solidFill>
              </a:rPr>
              <a:t>method extension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super() in Constructors (__init__)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142500" y="663150"/>
            <a:ext cx="67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parent has constructor, child must call it.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142500" y="1235000"/>
            <a:ext cx="4429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Person: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__init__(self, name):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self.name =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print("Person constructor")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Student(Person):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__init__(self, name, roll):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super().__init__(name)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self.roll = roll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print("Student constructor")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 = Student("Ram", 101)</a:t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176425" y="42138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Person constructor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Student constructor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4892425" y="21781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Parent constructor runs first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Child constructor runs next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What Happens If You Don't Use super()?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217125" y="6785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Student(Person):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__init__(self, name, roll):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self.roll = roll</a:t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217125" y="15539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 = Student("Ram", 101)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print(s.name)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147775" y="27718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 ERROR → name not defined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5021350" y="600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super() in Multiple Inheritance</a:t>
            </a:r>
            <a:endParaRPr b="1"/>
          </a:p>
        </p:txBody>
      </p:sp>
      <p:sp>
        <p:nvSpPr>
          <p:cNvPr id="129" name="Google Shape;129;p21"/>
          <p:cNvSpPr txBox="1"/>
          <p:nvPr/>
        </p:nvSpPr>
        <p:spPr>
          <a:xfrm>
            <a:off x="5055275" y="1062650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print("A")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B(A):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super().show()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print("B")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C(B):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super().show()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print("C")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 = C()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obj.show()</a:t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8366675" y="3596375"/>
            <a:ext cx="29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A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B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C</a:t>
            </a:r>
            <a:endParaRPr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Real-World Example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183225" y="597150"/>
            <a:ext cx="741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BankAccount: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__init__(self, balance):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self.balance = balance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withdraw(self, amount):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self.balance -= amount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print("Withdrawn:", amount)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SavingsAccount(BankAccount):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withdraw(self, amount):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if amount &gt; self.balance: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print("Insufficient balance")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else: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super().withdraw(amount)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Types of Inheritance in Python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183225" y="597150"/>
            <a:ext cx="7410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1.</a:t>
            </a:r>
            <a:r>
              <a:rPr b="1" lang="en"/>
              <a:t> Single Inheritance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parent → One child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2.</a:t>
            </a:r>
            <a:r>
              <a:rPr b="1" lang="en"/>
              <a:t>Multiple Inheritance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child → Multiple parents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3. Multilevel Inheritance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Grandparent → Parent → Child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4. Hierarchical Inheritance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parent → Many children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4234225" y="70570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B: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C(A, B):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Types of Inheritance in Python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122125" y="538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Inheritance</a:t>
            </a:r>
            <a:endParaRPr/>
          </a:p>
        </p:txBody>
      </p:sp>
      <p:sp>
        <p:nvSpPr>
          <p:cNvPr id="150" name="Google Shape;150;p24"/>
          <p:cNvSpPr txBox="1"/>
          <p:nvPr/>
        </p:nvSpPr>
        <p:spPr>
          <a:xfrm>
            <a:off x="176400" y="875350"/>
            <a:ext cx="34131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Person: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__init__(self, name):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self.name =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print("Name:", self.name)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Student(Person):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study(self):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print(self.name, "is studying")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 = Student("Ram")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s.show()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s.study()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950" y="643700"/>
            <a:ext cx="5432076" cy="246628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4173175" y="32910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Name: Ram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Ram is studying</a:t>
            </a:r>
            <a:endParaRPr>
              <a:highlight>
                <a:srgbClr val="00FF00"/>
              </a:highlight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4098525" y="3906625"/>
            <a:ext cx="442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Child gets all parent methods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No duplication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IS-A relationship (Student IS-A Person)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Types of Inheritance in Python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122125" y="538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Inheritance</a:t>
            </a:r>
            <a:endParaRPr/>
          </a:p>
        </p:txBody>
      </p:sp>
      <p:sp>
        <p:nvSpPr>
          <p:cNvPr id="160" name="Google Shape;160;p25"/>
          <p:cNvSpPr txBox="1"/>
          <p:nvPr/>
        </p:nvSpPr>
        <p:spPr>
          <a:xfrm>
            <a:off x="176400" y="875350"/>
            <a:ext cx="3413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 Parent1: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 Parent2: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 Child(Parent1, Parent2):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4950600" y="165350"/>
            <a:ext cx="3753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Father: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skills(self):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print("Gardening skills")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Mother: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talents(self):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print("Painting talent")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Child(Father, Mother):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hobbies(self):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print("Reading books")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 = Child()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c.skills()    # from Father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c.talents()   # from Mother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c.hobbies()   # own method</a:t>
            </a:r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000" y="2756825"/>
            <a:ext cx="3027737" cy="1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7283575" y="3874125"/>
            <a:ext cx="1818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Gardening skills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Painting talent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Reading books</a:t>
            </a:r>
            <a:endParaRPr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/>
        </p:nvSpPr>
        <p:spPr>
          <a:xfrm>
            <a:off x="0" y="0"/>
            <a:ext cx="678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chemeClr val="dk1"/>
                </a:solidFill>
              </a:rPr>
              <a:t>Types of Inheritance in Python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257150" y="538800"/>
            <a:ext cx="3753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Teacher: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teach(self):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print("Teaching students")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Researcher: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research(self):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print("Doing research work")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Professor(Teacher, Researcher):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guide(self):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print("Guiding PhD students")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= Professor()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p.teach()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p.research()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p.guide()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 txBox="1"/>
          <p:nvPr/>
        </p:nvSpPr>
        <p:spPr>
          <a:xfrm>
            <a:off x="3894375" y="3874125"/>
            <a:ext cx="5207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Teaching students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Doing research work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Guiding PhD students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/>
        </p:nvSpPr>
        <p:spPr>
          <a:xfrm>
            <a:off x="0" y="0"/>
            <a:ext cx="67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Types of Inheritance in Python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43138"/>
            <a:ext cx="3626125" cy="26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/>
          <p:nvPr/>
        </p:nvSpPr>
        <p:spPr>
          <a:xfrm>
            <a:off x="122125" y="410212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Multilevel Inheritance</a:t>
            </a:r>
            <a:endParaRPr/>
          </a:p>
        </p:txBody>
      </p:sp>
      <p:sp>
        <p:nvSpPr>
          <p:cNvPr id="178" name="Google Shape;178;p27"/>
          <p:cNvSpPr txBox="1"/>
          <p:nvPr/>
        </p:nvSpPr>
        <p:spPr>
          <a:xfrm>
            <a:off x="373613" y="3113675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B(A):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C(B):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pass</a:t>
            </a:r>
            <a:endParaRPr/>
          </a:p>
        </p:txBody>
      </p:sp>
      <p:sp>
        <p:nvSpPr>
          <p:cNvPr id="179" name="Google Shape;179;p27"/>
          <p:cNvSpPr txBox="1"/>
          <p:nvPr/>
        </p:nvSpPr>
        <p:spPr>
          <a:xfrm>
            <a:off x="3701475" y="109050"/>
            <a:ext cx="53823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Person: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__init__(self, name):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self.name =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show_name(self):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print("Name:", self.name)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Employee(Person):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__init__(self, name, emp_id):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super().__init__(name)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self.emp_id = emp_id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show_emp(self):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print("Employee ID:", self.emp_id)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Manager(Employee):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__init__(self, name, emp_id, department):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super().__init__(name, emp_id)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self.department = department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show_dept(self):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print("Department:", self.department)</a:t>
            </a:r>
            <a:endParaRPr/>
          </a:p>
        </p:txBody>
      </p:sp>
      <p:sp>
        <p:nvSpPr>
          <p:cNvPr id="180" name="Google Shape;180;p27"/>
          <p:cNvSpPr txBox="1"/>
          <p:nvPr/>
        </p:nvSpPr>
        <p:spPr>
          <a:xfrm>
            <a:off x="6640625" y="16532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 = Manager("Ram", 101, "IT")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m.show_name()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m.show_emp()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m.show_dept()</a:t>
            </a:r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7054750" y="1740450"/>
            <a:ext cx="186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Name: Ram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Employee ID: 101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Department: IT</a:t>
            </a:r>
            <a:endParaRPr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0" y="0"/>
            <a:ext cx="67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Types of Inheritance in Python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122125" y="410212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Inheritance</a:t>
            </a:r>
            <a:endParaRPr/>
          </a:p>
        </p:txBody>
      </p:sp>
      <p:sp>
        <p:nvSpPr>
          <p:cNvPr id="188" name="Google Shape;188;p28"/>
          <p:cNvSpPr txBox="1"/>
          <p:nvPr/>
        </p:nvSpPr>
        <p:spPr>
          <a:xfrm>
            <a:off x="122113" y="2856200"/>
            <a:ext cx="30000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Hierarchical (A → B, A → C)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Multiple (D inherits B and C)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Multilevel (A → B → D)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8"/>
          <p:cNvSpPr txBox="1"/>
          <p:nvPr/>
        </p:nvSpPr>
        <p:spPr>
          <a:xfrm>
            <a:off x="3701475" y="109050"/>
            <a:ext cx="53823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print("Class A")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B(A):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super().show()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print("Class B")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C(A):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super().show()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print("Class C")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D(B, C):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show(self):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super().show()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print("Class D")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 = D()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obj.show()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25" y="659713"/>
            <a:ext cx="2387052" cy="199846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 txBox="1"/>
          <p:nvPr/>
        </p:nvSpPr>
        <p:spPr>
          <a:xfrm>
            <a:off x="6916150" y="1675775"/>
            <a:ext cx="1139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Class A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Class C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Class B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Class D</a:t>
            </a:r>
            <a:endParaRPr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625" y="659713"/>
            <a:ext cx="2387052" cy="199846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9"/>
          <p:cNvSpPr txBox="1"/>
          <p:nvPr/>
        </p:nvSpPr>
        <p:spPr>
          <a:xfrm>
            <a:off x="0" y="0"/>
            <a:ext cx="67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Types of Inheritance in Python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98" name="Google Shape;198;p29"/>
          <p:cNvSpPr txBox="1"/>
          <p:nvPr/>
        </p:nvSpPr>
        <p:spPr>
          <a:xfrm>
            <a:off x="122125" y="410212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Inheritance</a:t>
            </a:r>
            <a:endParaRPr/>
          </a:p>
        </p:txBody>
      </p:sp>
      <p:sp>
        <p:nvSpPr>
          <p:cNvPr id="199" name="Google Shape;199;p29"/>
          <p:cNvSpPr txBox="1"/>
          <p:nvPr/>
        </p:nvSpPr>
        <p:spPr>
          <a:xfrm>
            <a:off x="122113" y="2856200"/>
            <a:ext cx="30000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Hierarchical (A → B, A → C)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Multiple (D inherits B and C)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Multilevel (A → B → D)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3490228" y="109050"/>
            <a:ext cx="37566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Person: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details(self):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print("Basic personal details")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Employee(Person):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work(self):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print("Employee work")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Student(Person):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study(self):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print("Student studies")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TeachingAssistant(Employee, Student):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role(self):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print("Teaching Assistant role")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 txBox="1"/>
          <p:nvPr/>
        </p:nvSpPr>
        <p:spPr>
          <a:xfrm>
            <a:off x="6788400" y="109050"/>
            <a:ext cx="2387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 = TeachingAssistant()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ta.details()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ta.work()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ta.study()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ta.role()</a:t>
            </a:r>
            <a:endParaRPr/>
          </a:p>
        </p:txBody>
      </p:sp>
      <p:sp>
        <p:nvSpPr>
          <p:cNvPr id="202" name="Google Shape;202;p29"/>
          <p:cNvSpPr txBox="1"/>
          <p:nvPr/>
        </p:nvSpPr>
        <p:spPr>
          <a:xfrm>
            <a:off x="6788400" y="161147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Basic personal details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Employee work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Student studies</a:t>
            </a:r>
            <a:endParaRPr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00FF00"/>
                </a:highlight>
              </a:rPr>
              <a:t>Teaching Assistant role</a:t>
            </a:r>
            <a:endParaRPr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/>
        </p:nvSpPr>
        <p:spPr>
          <a:xfrm>
            <a:off x="367400" y="569450"/>
            <a:ext cx="46107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print("A")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B(A):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print("B")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super().__init__()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C(B):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def __init__(self):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super().__init__()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print("C")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 = C()</a:t>
            </a:r>
            <a:endParaRPr/>
          </a:p>
        </p:txBody>
      </p:sp>
      <p:sp>
        <p:nvSpPr>
          <p:cNvPr id="208" name="Google Shape;208;p30"/>
          <p:cNvSpPr txBox="1"/>
          <p:nvPr/>
        </p:nvSpPr>
        <p:spPr>
          <a:xfrm>
            <a:off x="4408700" y="1148100"/>
            <a:ext cx="3000000" cy="13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What is the output?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A) A B C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B) B A C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C) B C A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D) A C B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367400" y="192725"/>
            <a:ext cx="693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MCQ 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/>
        </p:nvSpPr>
        <p:spPr>
          <a:xfrm>
            <a:off x="367400" y="569450"/>
            <a:ext cx="4610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class A: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def __init__(self):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    print("A constructor")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class B(A):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def __init__(self):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    print("B constructor")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obj = B()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15" name="Google Shape;215;p31"/>
          <p:cNvSpPr txBox="1"/>
          <p:nvPr/>
        </p:nvSpPr>
        <p:spPr>
          <a:xfrm>
            <a:off x="4408700" y="1148100"/>
            <a:ext cx="3000000" cy="22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What is the output?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A) A constructor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B) B constructor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C) A constructor B constructor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D) Error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367400" y="192725"/>
            <a:ext cx="693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MCQ 2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/>
        </p:nvSpPr>
        <p:spPr>
          <a:xfrm>
            <a:off x="367400" y="569450"/>
            <a:ext cx="461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class A: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def show(self):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    print("A")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class B(A):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def show(self):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    super().show()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      print("B")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obj = B()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obj.show()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22" name="Google Shape;222;p32"/>
          <p:cNvSpPr txBox="1"/>
          <p:nvPr/>
        </p:nvSpPr>
        <p:spPr>
          <a:xfrm>
            <a:off x="4408700" y="1148100"/>
            <a:ext cx="30000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Output?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A) A</a:t>
            </a:r>
            <a:br>
              <a:rPr b="1" lang="en" sz="1800">
                <a:solidFill>
                  <a:schemeClr val="dk1"/>
                </a:solidFill>
              </a:rPr>
            </a:br>
            <a:r>
              <a:rPr b="1" lang="en" sz="1800">
                <a:solidFill>
                  <a:schemeClr val="dk1"/>
                </a:solidFill>
              </a:rPr>
              <a:t> B) B</a:t>
            </a:r>
            <a:br>
              <a:rPr b="1" lang="en" sz="1800">
                <a:solidFill>
                  <a:schemeClr val="dk1"/>
                </a:solidFill>
              </a:rPr>
            </a:br>
            <a:r>
              <a:rPr b="1" lang="en" sz="1800">
                <a:solidFill>
                  <a:schemeClr val="dk1"/>
                </a:solidFill>
              </a:rPr>
              <a:t> C) A B</a:t>
            </a:r>
            <a:br>
              <a:rPr b="1" lang="en" sz="1800">
                <a:solidFill>
                  <a:schemeClr val="dk1"/>
                </a:solidFill>
              </a:rPr>
            </a:br>
            <a:r>
              <a:rPr b="1" lang="en" sz="1800">
                <a:solidFill>
                  <a:schemeClr val="dk1"/>
                </a:solidFill>
              </a:rPr>
              <a:t> D) B 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367400" y="192725"/>
            <a:ext cx="693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MCQ 3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/>
        </p:nvSpPr>
        <p:spPr>
          <a:xfrm>
            <a:off x="367400" y="340575"/>
            <a:ext cx="8715000" cy="46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1.</a:t>
            </a:r>
            <a:r>
              <a:rPr lang="en" sz="1300">
                <a:solidFill>
                  <a:schemeClr val="dk1"/>
                </a:solidFill>
              </a:rPr>
              <a:t> Implement Bubble Sort and Merge Sort. Conduct experimental analysis on random and nearly sorted datasets. Evaluate their performance based on execution time, stability, and theoretical complexity. </a:t>
            </a:r>
            <a:r>
              <a:rPr b="1" lang="en" sz="1300">
                <a:solidFill>
                  <a:schemeClr val="dk1"/>
                </a:solidFill>
              </a:rPr>
              <a:t>[BT 5] [CO1]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</a:t>
            </a:r>
            <a:r>
              <a:rPr lang="en" sz="1300">
                <a:solidFill>
                  <a:schemeClr val="dk1"/>
                </a:solidFill>
              </a:rPr>
              <a:t> Implement Recursive Fibonacci and Iterative Fibonacci. Measure the number of function calls and execution time for increasing input sizes. Analyze why the recursive version exhibits exponential growth and suggest improvements. </a:t>
            </a:r>
            <a:r>
              <a:rPr b="1" lang="en" sz="1300">
                <a:solidFill>
                  <a:schemeClr val="dk1"/>
                </a:solidFill>
              </a:rPr>
              <a:t>[BT 4] [CO1]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3. Implement insertion and deletion operations at different positions in an array. Analyze the time complexity of each operation and justify the limitations of arrays for dynamic data handling. </a:t>
            </a:r>
            <a:r>
              <a:rPr b="1" lang="en" sz="1300">
                <a:solidFill>
                  <a:schemeClr val="dk1"/>
                </a:solidFill>
              </a:rPr>
              <a:t>[BT 4] [CO2]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4. Implement a Singly Linked List with insertion (beginning &amp; end), deletion, and search operations. Compare its performance with array implementation and evaluate which structure is more efficient under different scenarios. </a:t>
            </a:r>
            <a:r>
              <a:rPr b="1" lang="en" sz="1300">
                <a:solidFill>
                  <a:schemeClr val="dk1"/>
                </a:solidFill>
              </a:rPr>
              <a:t>[BT 5] [CO2]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5. </a:t>
            </a:r>
            <a:r>
              <a:rPr lang="en" sz="1300">
                <a:solidFill>
                  <a:schemeClr val="dk1"/>
                </a:solidFill>
              </a:rPr>
              <a:t>Design an abstract class StackADT and implement two concrete subclasses: ArrayStack and LinkedStack. Experimentally evaluate their performance for large datasets and justify which implementation is more suitable for real-world applications. </a:t>
            </a:r>
            <a:r>
              <a:rPr b="1" lang="en" sz="1300">
                <a:solidFill>
                  <a:schemeClr val="dk1"/>
                </a:solidFill>
              </a:rPr>
              <a:t>[BT 5] [CO3]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6.</a:t>
            </a:r>
            <a:r>
              <a:rPr lang="en" sz="1300">
                <a:solidFill>
                  <a:schemeClr val="dk1"/>
                </a:solidFill>
              </a:rPr>
              <a:t>Design an abstract class StackADT and implement two concrete subclasses: ArrayStack and LinkedStack. Experimentally evaluate their performance for large datasets and justify which implementation is more suitable for real-world applications.</a:t>
            </a:r>
            <a:r>
              <a:rPr b="1" lang="en" sz="1300">
                <a:solidFill>
                  <a:schemeClr val="dk1"/>
                </a:solidFill>
              </a:rPr>
              <a:t>[BT 5] [CO3]</a:t>
            </a:r>
            <a:endParaRPr sz="2100"/>
          </a:p>
        </p:txBody>
      </p:sp>
      <p:sp>
        <p:nvSpPr>
          <p:cNvPr id="229" name="Google Shape;229;p33"/>
          <p:cNvSpPr txBox="1"/>
          <p:nvPr/>
        </p:nvSpPr>
        <p:spPr>
          <a:xfrm>
            <a:off x="307172" y="-60234"/>
            <a:ext cx="6938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Assignment 1 - SUBMIT BY 16-03-2026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/>
        </p:nvSpPr>
        <p:spPr>
          <a:xfrm>
            <a:off x="0" y="0"/>
            <a:ext cx="9231600" cy="3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an Abstract Class?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Python, an abstract class: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instantiated directly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contain: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methods (must be implemented in child classes)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Concrete methods (already implemented and shared)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reusability + enforcement of structure</a:t>
            </a:r>
            <a:b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provides abstract class support using the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 (Abstract Base Class)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/>
        </p:nvSpPr>
        <p:spPr>
          <a:xfrm>
            <a:off x="0" y="0"/>
            <a:ext cx="9231600" cy="3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Syntax: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abc import ABC, abstractmethod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ClassName(ABC):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@abstractmethod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def method_name(self):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pass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35"/>
          <p:cNvSpPr txBox="1"/>
          <p:nvPr/>
        </p:nvSpPr>
        <p:spPr>
          <a:xfrm>
            <a:off x="149075" y="2773003"/>
            <a:ext cx="65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 Without Abstract Class (Redundant Code)</a:t>
            </a:r>
            <a:endParaRPr b="1"/>
          </a:p>
        </p:txBody>
      </p:sp>
      <p:sp>
        <p:nvSpPr>
          <p:cNvPr id="241" name="Google Shape;241;p35"/>
          <p:cNvSpPr txBox="1"/>
          <p:nvPr/>
        </p:nvSpPr>
        <p:spPr>
          <a:xfrm>
            <a:off x="313075" y="3173200"/>
            <a:ext cx="3759900" cy="1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Example: Payment System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Suppose we have multiple payment types: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CreditCardPayment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DebitCardPayment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UPIPayment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/>
        </p:nvSpPr>
        <p:spPr>
          <a:xfrm>
            <a:off x="0" y="0"/>
            <a:ext cx="923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Abstract Class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178900" y="461700"/>
            <a:ext cx="5563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class CreditCardPayment: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def validate(self):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print("Validating payment...")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def pay(self, amount):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print("Processing credit card payment:", amount)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class DebitCardPayment: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" sz="1600">
                <a:latin typeface="Times New Roman"/>
                <a:ea typeface="Times New Roman"/>
                <a:cs typeface="Times New Roman"/>
                <a:sym typeface="Times New Roman"/>
              </a:rPr>
              <a:t>   def validate(self):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print("Validating payment...")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def pay(self, amount):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print("Processing debit card payment:", amount)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5963250" y="939250"/>
            <a:ext cx="3000000" cy="3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validate() method is repeated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guarantee every class implements pay()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maintain in large systems.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change logic later then we must change in many places</a:t>
            </a:r>
            <a:b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/>
        </p:nvSpPr>
        <p:spPr>
          <a:xfrm>
            <a:off x="0" y="0"/>
            <a:ext cx="923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37"/>
          <p:cNvSpPr txBox="1"/>
          <p:nvPr/>
        </p:nvSpPr>
        <p:spPr>
          <a:xfrm>
            <a:off x="178900" y="327522"/>
            <a:ext cx="55638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from abc import ABC, abstractmethod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class Payment(ABC):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def validate(self):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print("Validating payment...")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@abstractmethod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def pay(self, amount):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Pass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Child Classes: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class CreditCardPayment(Payment):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def pay(self, amount):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print("Processing credit card payment:", amount)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class DebitCardPayment(Payment):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def pay(self, amount):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print("Processing debit card payment:", amount)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5963250" y="939250"/>
            <a:ext cx="3000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Forces implementation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maintenance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events misuse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5146475" y="2951900"/>
            <a:ext cx="3816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payment1 = CreditCardPayment()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payment1.validate()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payment1.pay(5000)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payment2 = DebitCardPayment()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payment2.validate()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payment2.pay(2000)</a:t>
            </a:r>
            <a:endParaRPr sz="1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/>
        </p:nvSpPr>
        <p:spPr>
          <a:xfrm>
            <a:off x="0" y="0"/>
            <a:ext cx="9037800" cy="46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ADT (Abstract Data Type)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stack is a linear collection of items where insertion and removal happen only at one end called the "top."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follows the Last-In-First-Out (LIFO) principle, meaning the last item pushed is the first one popped.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a stack of plates: you add (push) plates on top and remove (pop) plates from the top only.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operations are: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push(x): Add element x to the top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pop(): Remove the top element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peek()/top(): View the top element without removing it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isEmpty(): Check if stack is empty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/>
        </p:nvSpPr>
        <p:spPr>
          <a:xfrm>
            <a:off x="0" y="0"/>
            <a:ext cx="9037800" cy="59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Visual Representation Example: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the stack initially empty: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Stack: [ 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Push elements 5, 10, 15: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Stack: [15 (top), 10, 5]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 one element removes 15: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Stack: [10 (top), 5]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Peek shows 10 without pop.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Stacks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Expression evaluation and syntax parsing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history navigation (back button)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2899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34150" cy="43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625" y="912750"/>
            <a:ext cx="6890075" cy="36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/>
        </p:nvSpPr>
        <p:spPr>
          <a:xfrm>
            <a:off x="0" y="0"/>
            <a:ext cx="9037800" cy="48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Queue?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Queue is a linear data structure that follows the FIFO (First In, First Out) principle.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In , First Out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element inserted first is removed first.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like a line of people waiting for a ticket: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person who comes first gets the ticket first.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Terms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 – The position of the first element in the queue (to be removed).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Rear – The position of the last element in the queue (most recently added).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/>
        </p:nvSpPr>
        <p:spPr>
          <a:xfrm>
            <a:off x="48525" y="145575"/>
            <a:ext cx="9144000" cy="1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ADT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queue allows insertion at the rear and removal from the front, enforcing FIFO order across all accesses and updates.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 queue states track front, rear, and size, with overflow/underflow considerations in fixed-capacity arrays and circular buffers.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2" name="Google Shape;292;p44"/>
          <p:cNvGraphicFramePr/>
          <p:nvPr/>
        </p:nvGraphicFramePr>
        <p:xfrm>
          <a:off x="411275" y="213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{E339E083-D37D-4B4D-A9B5-AD389915871D}</a:tableStyleId>
              </a:tblPr>
              <a:tblGrid>
                <a:gridCol w="1971850"/>
                <a:gridCol w="6108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Operation</a:t>
                      </a:r>
                      <a:endParaRPr b="1"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enqueue(x)</a:t>
                      </a:r>
                      <a:endParaRPr b="1"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Insert element x at the </a:t>
                      </a:r>
                      <a:r>
                        <a:rPr b="1"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rear</a:t>
                      </a:r>
                      <a:r>
                        <a:rPr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dequeue()</a:t>
                      </a:r>
                      <a:endParaRPr b="1"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Remove and return element from the </a:t>
                      </a:r>
                      <a:r>
                        <a:rPr b="1"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front</a:t>
                      </a:r>
                      <a:r>
                        <a:rPr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peek() / front()</a:t>
                      </a:r>
                      <a:endParaRPr b="1"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 element at </a:t>
                      </a:r>
                      <a:r>
                        <a:rPr b="1"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front</a:t>
                      </a:r>
                      <a:r>
                        <a:rPr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without removing.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isEmpty()</a:t>
                      </a:r>
                      <a:endParaRPr b="1"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 if the queue is empty.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isFull()</a:t>
                      </a:r>
                      <a:endParaRPr b="1"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Check if the queue is full (for fixed-size queues).</a:t>
                      </a:r>
                      <a:endParaRPr sz="18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64845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125" y="405825"/>
            <a:ext cx="8260575" cy="40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 txBox="1"/>
          <p:nvPr/>
        </p:nvSpPr>
        <p:spPr>
          <a:xfrm>
            <a:off x="0" y="0"/>
            <a:ext cx="7517100" cy="24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 algorithms: breadth-first search (BFS) explores neighbors level-wise using a queue.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processing and service systems: fair handling of requests by arrival time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