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Roboto Mon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F9C531-FCEE-4B87-A1F0-29B0B99C9C32}">
  <a:tblStyle styleId="{F7F9C531-FCEE-4B87-A1F0-29B0B99C9C3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Mono-bold.fntdata"/><Relationship Id="rId47" Type="http://schemas.openxmlformats.org/officeDocument/2006/relationships/font" Target="fonts/RobotoMono-regular.fntdata"/><Relationship Id="rId49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cfa30446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cfa30446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cfa30446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cfa30446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cfa30446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cfa30446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cfa30446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cfa30446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cfa30446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cfa30446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cfa30446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cfa30446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cfa30446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cfa30446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cfa30446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cfa30446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cfa30446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cfa30446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cfa30446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cfa30446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any tree: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Edges=Nodes−1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because a tree is a connected acyclic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cfa30446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cfa30446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cfa30446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cfa30446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d4c6e94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d4c6e94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d4c6e94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d4c6e94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d4c6e949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d4c6e949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d4c6e949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d4c6e949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d4c6e949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d4c6e949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d4c6e949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d4c6e949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d4c6e949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d4c6e949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d4c6e949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d4c6e949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d4c6e949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d4c6e949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d4c6e949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d4c6e949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d4c6e949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d4c6e949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d4c6e949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d4c6e949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6fbc228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6fbc228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6fbc228b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6fbc228b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6fbc228b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86fbc228b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6fbc228b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6fbc228b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6fbc228b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6fbc228b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6fbc228b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86fbc228b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6fbc228b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86fbc228b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6fbc228b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86fbc228b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6fbc228b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6fbc228b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86fbc228b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86fbc228b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6fbc228b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86fbc228b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6fbc228b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86fbc228b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6fbc228b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86fbc228b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6fbc228b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86fbc228b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6fbc228b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86fbc228b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75234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 </a:t>
            </a:r>
            <a:r>
              <a:rPr b="1" lang="en" sz="1800">
                <a:solidFill>
                  <a:schemeClr val="dk1"/>
                </a:solidFill>
              </a:rPr>
              <a:t>Tree</a:t>
            </a:r>
            <a:r>
              <a:rPr lang="en" sz="1800">
                <a:solidFill>
                  <a:schemeClr val="dk1"/>
                </a:solidFill>
              </a:rPr>
              <a:t> is a </a:t>
            </a:r>
            <a:r>
              <a:rPr b="1" lang="en" sz="1800">
                <a:solidFill>
                  <a:schemeClr val="dk1"/>
                </a:solidFill>
              </a:rPr>
              <a:t>non-linear data structure</a:t>
            </a:r>
            <a:r>
              <a:rPr lang="en" sz="1800">
                <a:solidFill>
                  <a:schemeClr val="dk1"/>
                </a:solidFill>
              </a:rPr>
              <a:t> used to represent hierarchical relationships.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Key Properties: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Consists of nodes and edges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One node is the root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Every node can have children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Terminology: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Root : Top node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Parent / Child : Relationship between nodes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Leaf Node : Node with no children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Subtree : Tree inside a tree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Depth : Distance from root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Height : Longest path to leaf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332300" y="16777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/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B  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/     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       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0"/>
            <a:ext cx="75234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class Node: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def __init__(self, data):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  self.data = data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  self.children = []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# Example creation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root = Node('A')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child1 = Node('B')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child2 = Node('C')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root.children.append(child1)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root.children.append(child2)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0" y="0"/>
            <a:ext cx="75234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Uses of Trees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1. File Systems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OS stores directories as trees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2. Database Indexing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Trees like B-Trees, B+ Trees are used for fast searching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3. Searching Algorithms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Binary Search Trees allow O(log n) search (average)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4. AI &amp; Decision Making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Decision Trees in Machine Learning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0" y="0"/>
            <a:ext cx="75234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Shape of Binary Trees</a:t>
            </a:r>
            <a:br>
              <a:rPr lang="en" sz="2100">
                <a:solidFill>
                  <a:schemeClr val="dk1"/>
                </a:solidFill>
              </a:rPr>
            </a:br>
            <a:br>
              <a:rPr lang="en" sz="2100">
                <a:solidFill>
                  <a:schemeClr val="dk1"/>
                </a:solidFill>
              </a:rPr>
            </a:br>
            <a:r>
              <a:rPr lang="en" sz="2100">
                <a:solidFill>
                  <a:schemeClr val="dk1"/>
                </a:solidFill>
              </a:rPr>
              <a:t>A Binary Tree is a tree where each node has at most 2 children.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1. Full Binary Tree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Every node has 0 or 2 children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2. Complete Binary Tree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All levels filled except last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Last level filled left to right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9000" y="1383325"/>
            <a:ext cx="1227875" cy="11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7475" y="3414350"/>
            <a:ext cx="1342175" cy="15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0" y="0"/>
            <a:ext cx="7523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3. Perfect Binary Tree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All internal nodes have 2 children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All leaves at same level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4025" y="249500"/>
            <a:ext cx="1480025" cy="15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19800" y="1933900"/>
            <a:ext cx="3159375" cy="251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3200" y="1889925"/>
            <a:ext cx="1696875" cy="225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/>
        </p:nvSpPr>
        <p:spPr>
          <a:xfrm>
            <a:off x="0" y="0"/>
            <a:ext cx="7523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Python Binary Tree Node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class BinaryNode: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    def __init__(self, data):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        self.data = data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        self.left = None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    self.right = None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7475" y="328250"/>
            <a:ext cx="1623525" cy="15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0" y="0"/>
            <a:ext cx="7523400" cy="56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Three Common Applications of Binary Trees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1. Binary Search Tree (BST)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Left child &lt; Root &lt; Right child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class BST: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def __init__(self):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    self.root = None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def insert(self, root, key):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    if root is None: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        return BinaryNode(key)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    if key &lt; root.data: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        root.left = self.insert(root.left, key)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    else: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        root.right = self.insert(root.right, key)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    return root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/>
        </p:nvSpPr>
        <p:spPr>
          <a:xfrm>
            <a:off x="0" y="0"/>
            <a:ext cx="7523400" cy="56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2. Expression Tree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Used to evaluate expressions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Example: (3 + (2 * 5))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def evaluate(root):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if root.left is None and root.right is None: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    return int(root.data)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left_val = evaluate(root.left)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right_val = evaluate(root.right)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if root.data == '+':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    return left_val + right_val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elif root.data == '*':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    return left_val * right_val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2050" y="293450"/>
            <a:ext cx="1093175" cy="153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0" y="0"/>
            <a:ext cx="7523400" cy="56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3. Heap (Priority Queue)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Complete Binary Tree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Used in priority scheduling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Types: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Min Heap : smallest element at root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Max Heap : largest element at root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Code: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import heapq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heap = []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heapq.heappush(heap, 10)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heapq.heappush(heap, 5)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heapq.heappush(heap, 20)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print(heapq.heappop(heap))  # Output: 5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03" name="Google Shape;103;p21"/>
          <p:cNvSpPr txBox="1"/>
          <p:nvPr/>
        </p:nvSpPr>
        <p:spPr>
          <a:xfrm>
            <a:off x="5468825" y="1301275"/>
            <a:ext cx="3000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Uses: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Scheduling algorithms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Dijkstra’s algorithm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Priority queues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0" y="0"/>
            <a:ext cx="7523400" cy="56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3. Heap (Priority Queue)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Complete Binary Tree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Used in priority scheduling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Types: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Min Heap : smallest element at root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Max Heap : largest element at root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Code: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import heapq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heap = []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heapq.heappush(heap, 10)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heapq.heappush(heap, 5)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heapq.heappush(heap, 20)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print(heapq.heappop(heap))  # Output: 5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5468825" y="1301275"/>
            <a:ext cx="3000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Uses: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Scheduling algorithms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Dijkstra’s algorithm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Priority queues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/>
        </p:nvSpPr>
        <p:spPr>
          <a:xfrm>
            <a:off x="0" y="0"/>
            <a:ext cx="75234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Q1: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A tree with n nodes has how many edges?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A) n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B) n − 1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C) n + 1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D) 2n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/>
        </p:nvSpPr>
        <p:spPr>
          <a:xfrm>
            <a:off x="0" y="0"/>
            <a:ext cx="75234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Q2: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Which node has no children?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A) Root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B) Internal node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C) Leaf node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D) Parent node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/>
        </p:nvSpPr>
        <p:spPr>
          <a:xfrm>
            <a:off x="0" y="0"/>
            <a:ext cx="7523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Q5: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A binary tree in which all levels are filled except possibly the last, and nodes are filled from left is called: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A) Full Binary Tree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B) Perfect Binary Tree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C) Complete Binary Tree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D) Skewed Tree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150325" cy="37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380725" cy="356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25" y="288250"/>
            <a:ext cx="5808200" cy="381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00" y="336775"/>
            <a:ext cx="851535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150" y="259150"/>
            <a:ext cx="4476750" cy="436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/>
        </p:nvSpPr>
        <p:spPr>
          <a:xfrm>
            <a:off x="0" y="0"/>
            <a:ext cx="6288600" cy="43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What is Parsing?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Parsing = analyzing a string according to grammar rules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Used in: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Compilers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Interpreters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Calculators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Real-life Example:   3 + 5 * 2</a:t>
            </a:r>
            <a:br>
              <a:rPr lang="en" sz="1700">
                <a:solidFill>
                  <a:schemeClr val="dk1"/>
                </a:solidFill>
              </a:rPr>
            </a:b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Parsing decides: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Order of evaluation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Structure of expression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/>
          <p:nvPr/>
        </p:nvSpPr>
        <p:spPr>
          <a:xfrm>
            <a:off x="0" y="0"/>
            <a:ext cx="6288600" cy="42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2. Types of Expressions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1. Infix Expression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Operator between operands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 + B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2. Prefix Expression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+ A B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3. Postfix Expression 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 B +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/>
          <p:nvPr/>
        </p:nvSpPr>
        <p:spPr>
          <a:xfrm>
            <a:off x="0" y="0"/>
            <a:ext cx="628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3. Operator Precedence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165" name="Google Shape;165;p33"/>
          <p:cNvGraphicFramePr/>
          <p:nvPr/>
        </p:nvGraphicFramePr>
        <p:xfrm>
          <a:off x="336775" y="59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{F7F9C531-FCEE-4B87-A1F0-29B0B99C9C32}</a:tableStyleId>
              </a:tblPr>
              <a:tblGrid>
                <a:gridCol w="2114425"/>
                <a:gridCol w="17940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Operator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Priority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^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*, /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+, 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/>
        </p:nvSpPr>
        <p:spPr>
          <a:xfrm>
            <a:off x="0" y="0"/>
            <a:ext cx="628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4. Infix → Postfix Conversion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71" name="Google Shape;171;p34"/>
          <p:cNvSpPr txBox="1"/>
          <p:nvPr/>
        </p:nvSpPr>
        <p:spPr>
          <a:xfrm>
            <a:off x="164975" y="601675"/>
            <a:ext cx="49590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Algorithm (Stack-based)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Scan expression left to right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If operand → output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If operator → push to stack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If higher precedence → push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If lower → pop until condition satisfied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If ( → push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If ) → pop until (</a:t>
            </a:r>
            <a:endParaRPr sz="1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 txBox="1"/>
          <p:nvPr/>
        </p:nvSpPr>
        <p:spPr>
          <a:xfrm>
            <a:off x="0" y="0"/>
            <a:ext cx="628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Expression Trees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77" name="Google Shape;177;p35"/>
          <p:cNvSpPr txBox="1"/>
          <p:nvPr/>
        </p:nvSpPr>
        <p:spPr>
          <a:xfrm>
            <a:off x="223200" y="601675"/>
            <a:ext cx="82005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1. What is an Expression Tree?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A binary tree representation of expressions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Leaves : operands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Internal nodes : operators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Expression:   A + B * C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78" name="Google Shape;17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3775" y="1919625"/>
            <a:ext cx="2234975" cy="244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/>
        </p:nvSpPr>
        <p:spPr>
          <a:xfrm>
            <a:off x="0" y="0"/>
            <a:ext cx="628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Node Structure in Python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84" name="Google Shape;184;p36"/>
          <p:cNvSpPr txBox="1"/>
          <p:nvPr/>
        </p:nvSpPr>
        <p:spPr>
          <a:xfrm>
            <a:off x="223200" y="601675"/>
            <a:ext cx="8200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class Node: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  def __init__(self, value):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      self.value = value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      self.left = None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      self.right = None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/>
        </p:nvSpPr>
        <p:spPr>
          <a:xfrm>
            <a:off x="0" y="0"/>
            <a:ext cx="628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3. Construct Expression Tree from Postfix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90" name="Google Shape;190;p37"/>
          <p:cNvSpPr txBox="1"/>
          <p:nvPr/>
        </p:nvSpPr>
        <p:spPr>
          <a:xfrm>
            <a:off x="223200" y="601675"/>
            <a:ext cx="82005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Algorithm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Scan postfix expression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If operand → push node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If operator:</a:t>
            </a:r>
            <a:endParaRPr sz="1900"/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Pop two nodes</a:t>
            </a:r>
            <a:endParaRPr sz="1900"/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Create new node</a:t>
            </a:r>
            <a:endParaRPr sz="1900"/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Push back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/>
        </p:nvSpPr>
        <p:spPr>
          <a:xfrm>
            <a:off x="0" y="0"/>
            <a:ext cx="840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Hash Table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96" name="Google Shape;19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500" y="598375"/>
            <a:ext cx="7251326" cy="42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/>
          <p:nvPr/>
        </p:nvSpPr>
        <p:spPr>
          <a:xfrm>
            <a:off x="0" y="0"/>
            <a:ext cx="84093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Hash Table ADT (Abstract Data Type)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02" name="Google Shape;2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338" y="540300"/>
            <a:ext cx="7367326" cy="46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/>
          <p:nvPr/>
        </p:nvSpPr>
        <p:spPr>
          <a:xfrm>
            <a:off x="0" y="0"/>
            <a:ext cx="84093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Hash Table ADT (Abstract Data Type)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08" name="Google Shape;2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425" y="619500"/>
            <a:ext cx="5918586" cy="3904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p40"/>
          <p:cNvGraphicFramePr/>
          <p:nvPr/>
        </p:nvGraphicFramePr>
        <p:xfrm>
          <a:off x="4194338" y="4056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{F7F9C531-FCEE-4B87-A1F0-29B0B99C9C32}</a:tableStyleId>
              </a:tblPr>
              <a:tblGrid>
                <a:gridCol w="981075"/>
                <a:gridCol w="1713350"/>
                <a:gridCol w="1094450"/>
                <a:gridCol w="1065775"/>
              </a:tblGrid>
              <a:tr h="39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Key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Hash Value (h(key))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Index Value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Stored Value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h(12) = 2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"Apple"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44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h(44) = 4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"Mango"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/>
        </p:nvSpPr>
        <p:spPr>
          <a:xfrm>
            <a:off x="0" y="0"/>
            <a:ext cx="840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Hash Table 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15" name="Google Shape;21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675" y="683038"/>
            <a:ext cx="7986225" cy="377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 txBox="1"/>
          <p:nvPr/>
        </p:nvSpPr>
        <p:spPr>
          <a:xfrm>
            <a:off x="0" y="0"/>
            <a:ext cx="840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Hash Table 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21" name="Google Shape;22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4100"/>
            <a:ext cx="8331451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3"/>
          <p:cNvSpPr txBox="1"/>
          <p:nvPr/>
        </p:nvSpPr>
        <p:spPr>
          <a:xfrm>
            <a:off x="0" y="0"/>
            <a:ext cx="840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Hash Table 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27" name="Google Shape;22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363" y="0"/>
            <a:ext cx="6825925" cy="40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3225" y="3607675"/>
            <a:ext cx="7506075" cy="15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4"/>
          <p:cNvSpPr txBox="1"/>
          <p:nvPr/>
        </p:nvSpPr>
        <p:spPr>
          <a:xfrm>
            <a:off x="0" y="0"/>
            <a:ext cx="840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 Resolution Techniques</a:t>
            </a:r>
            <a:endParaRPr/>
          </a:p>
        </p:txBody>
      </p:sp>
      <p:sp>
        <p:nvSpPr>
          <p:cNvPr id="234" name="Google Shape;234;p44"/>
          <p:cNvSpPr txBox="1"/>
          <p:nvPr/>
        </p:nvSpPr>
        <p:spPr>
          <a:xfrm>
            <a:off x="90250" y="400200"/>
            <a:ext cx="94533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1. Separate Chaining (Closed Hashing)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Each index stores a </a:t>
            </a:r>
            <a:r>
              <a:rPr b="1" lang="en" sz="1800">
                <a:solidFill>
                  <a:schemeClr val="dk1"/>
                </a:solidFill>
              </a:rPr>
              <a:t>linked list</a:t>
            </a:r>
            <a:r>
              <a:rPr lang="en" sz="1800">
                <a:solidFill>
                  <a:schemeClr val="dk1"/>
                </a:solidFill>
              </a:rPr>
              <a:t> of all keys that map there.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35" name="Google Shape;23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00" y="1352550"/>
            <a:ext cx="4042350" cy="315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4"/>
          <p:cNvSpPr txBox="1"/>
          <p:nvPr/>
        </p:nvSpPr>
        <p:spPr>
          <a:xfrm>
            <a:off x="4795450" y="1585600"/>
            <a:ext cx="3987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multiple keys go to the same index, we just </a:t>
            </a:r>
            <a:r>
              <a:rPr b="1" lang="en" sz="1800">
                <a:solidFill>
                  <a:schemeClr val="dk1"/>
                </a:solidFill>
              </a:rPr>
              <a:t>chain them together</a:t>
            </a:r>
            <a:r>
              <a:rPr lang="en" sz="1800">
                <a:solidFill>
                  <a:schemeClr val="dk1"/>
                </a:solidFill>
              </a:rPr>
              <a:t> in a linked list.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Slightly more memory (for pointers)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5"/>
          <p:cNvSpPr txBox="1"/>
          <p:nvPr/>
        </p:nvSpPr>
        <p:spPr>
          <a:xfrm>
            <a:off x="0" y="0"/>
            <a:ext cx="840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 Resolution Techniques</a:t>
            </a:r>
            <a:endParaRPr/>
          </a:p>
        </p:txBody>
      </p:sp>
      <p:sp>
        <p:nvSpPr>
          <p:cNvPr id="242" name="Google Shape;242;p45"/>
          <p:cNvSpPr txBox="1"/>
          <p:nvPr/>
        </p:nvSpPr>
        <p:spPr>
          <a:xfrm>
            <a:off x="90250" y="400200"/>
            <a:ext cx="9453300" cy="4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2. Open Addressing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Unlike separate chaining, </a:t>
            </a:r>
            <a:r>
              <a:rPr b="1" lang="en" sz="1800">
                <a:solidFill>
                  <a:schemeClr val="dk1"/>
                </a:solidFill>
              </a:rPr>
              <a:t>all elements are stored directly in the hash table</a:t>
            </a:r>
            <a:r>
              <a:rPr lang="en" sz="1800">
                <a:solidFill>
                  <a:schemeClr val="dk1"/>
                </a:solidFill>
              </a:rPr>
              <a:t> itself.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 If a collision happens, the algorithm </a:t>
            </a:r>
            <a:r>
              <a:rPr b="1" lang="en" sz="1800">
                <a:solidFill>
                  <a:schemeClr val="dk1"/>
                </a:solidFill>
              </a:rPr>
              <a:t>finds another empty slot</a:t>
            </a:r>
            <a:r>
              <a:rPr lang="en" sz="1800">
                <a:solidFill>
                  <a:schemeClr val="dk1"/>
                </a:solidFill>
              </a:rPr>
              <a:t> in the table — this is called </a:t>
            </a:r>
            <a:r>
              <a:rPr b="1" lang="en" sz="1800">
                <a:solidFill>
                  <a:schemeClr val="dk1"/>
                </a:solidFill>
              </a:rPr>
              <a:t>probing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 linked lists or extra pointers are used here.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Compute hash: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index = h(key)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If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table[index]</a:t>
            </a:r>
            <a:r>
              <a:rPr lang="en" sz="1800">
                <a:solidFill>
                  <a:schemeClr val="dk1"/>
                </a:solidFill>
              </a:rPr>
              <a:t> is empty → insert key there.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If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table[index]</a:t>
            </a:r>
            <a:r>
              <a:rPr lang="en" sz="1800">
                <a:solidFill>
                  <a:schemeClr val="dk1"/>
                </a:solidFill>
              </a:rPr>
              <a:t> is full → use a </a:t>
            </a:r>
            <a:r>
              <a:rPr b="1" lang="en" sz="1800">
                <a:solidFill>
                  <a:schemeClr val="dk1"/>
                </a:solidFill>
              </a:rPr>
              <a:t>probing method</a:t>
            </a:r>
            <a:r>
              <a:rPr lang="en" sz="1800">
                <a:solidFill>
                  <a:schemeClr val="dk1"/>
                </a:solidFill>
              </a:rPr>
              <a:t> to find the next available slot.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6"/>
          <p:cNvSpPr txBox="1"/>
          <p:nvPr/>
        </p:nvSpPr>
        <p:spPr>
          <a:xfrm>
            <a:off x="0" y="0"/>
            <a:ext cx="840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Collision Resolution Techniques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8" name="Google Shape;248;p46"/>
          <p:cNvSpPr txBox="1"/>
          <p:nvPr/>
        </p:nvSpPr>
        <p:spPr>
          <a:xfrm>
            <a:off x="90250" y="400200"/>
            <a:ext cx="9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Linear Probing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9" name="Google Shape;249;p46"/>
          <p:cNvSpPr txBox="1"/>
          <p:nvPr/>
        </p:nvSpPr>
        <p:spPr>
          <a:xfrm>
            <a:off x="219150" y="1517500"/>
            <a:ext cx="7971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Start with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 = 0</a:t>
            </a:r>
            <a:r>
              <a:rPr lang="en" sz="1800">
                <a:solidFill>
                  <a:schemeClr val="dk1"/>
                </a:solidFill>
              </a:rPr>
              <a:t> → check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h(k)</a:t>
            </a:r>
            <a:r>
              <a:rPr lang="en" sz="1800">
                <a:solidFill>
                  <a:schemeClr val="dk1"/>
                </a:solidFill>
              </a:rPr>
              <a:t>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full,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 = 1</a:t>
            </a:r>
            <a:r>
              <a:rPr lang="en" sz="1800">
                <a:solidFill>
                  <a:schemeClr val="dk1"/>
                </a:solidFill>
              </a:rPr>
              <a:t> → check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h(k)+1</a:t>
            </a:r>
            <a:r>
              <a:rPr lang="en" sz="1800">
                <a:solidFill>
                  <a:schemeClr val="dk1"/>
                </a:solidFill>
              </a:rPr>
              <a:t>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Repeat until an empty slot is found.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0" name="Google Shape;250;p46"/>
          <p:cNvSpPr txBox="1"/>
          <p:nvPr/>
        </p:nvSpPr>
        <p:spPr>
          <a:xfrm>
            <a:off x="696100" y="928100"/>
            <a:ext cx="509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h(k,i)=(h(k)+i)%m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7"/>
          <p:cNvSpPr txBox="1"/>
          <p:nvPr/>
        </p:nvSpPr>
        <p:spPr>
          <a:xfrm>
            <a:off x="90250" y="116600"/>
            <a:ext cx="195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Linear Probing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56" name="Google Shape;2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150" y="0"/>
            <a:ext cx="6153300" cy="50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8"/>
          <p:cNvSpPr txBox="1"/>
          <p:nvPr/>
        </p:nvSpPr>
        <p:spPr>
          <a:xfrm>
            <a:off x="90250" y="116600"/>
            <a:ext cx="232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Quadratic Probing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2" name="Google Shape;262;p48"/>
          <p:cNvSpPr txBox="1"/>
          <p:nvPr/>
        </p:nvSpPr>
        <p:spPr>
          <a:xfrm>
            <a:off x="152400" y="1415825"/>
            <a:ext cx="7867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Instead of checking consecutive slots, jump </a:t>
            </a:r>
            <a:r>
              <a:rPr b="1" lang="en" sz="1800">
                <a:solidFill>
                  <a:schemeClr val="dk1"/>
                </a:solidFill>
              </a:rPr>
              <a:t>quadratically</a:t>
            </a:r>
            <a:r>
              <a:rPr lang="en" sz="1800">
                <a:solidFill>
                  <a:schemeClr val="dk1"/>
                </a:solidFill>
              </a:rPr>
              <a:t>: 1², 2², 3²…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Reduces clustering compared to linear probing.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63" name="Google Shape;26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50" y="706550"/>
            <a:ext cx="326707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 txBox="1"/>
          <p:nvPr/>
        </p:nvSpPr>
        <p:spPr>
          <a:xfrm>
            <a:off x="90250" y="116600"/>
            <a:ext cx="232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Quadratic Probing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69" name="Google Shape;26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30700"/>
            <a:ext cx="8053000" cy="340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0"/>
          <p:cNvSpPr txBox="1"/>
          <p:nvPr/>
        </p:nvSpPr>
        <p:spPr>
          <a:xfrm>
            <a:off x="90250" y="116600"/>
            <a:ext cx="232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Double Hashing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5" name="Google Shape;275;p50"/>
          <p:cNvSpPr txBox="1"/>
          <p:nvPr/>
        </p:nvSpPr>
        <p:spPr>
          <a:xfrm>
            <a:off x="152400" y="1415825"/>
            <a:ext cx="7867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Use </a:t>
            </a:r>
            <a:r>
              <a:rPr b="1" lang="en" sz="1800">
                <a:solidFill>
                  <a:schemeClr val="dk1"/>
                </a:solidFill>
              </a:rPr>
              <a:t>two hash functions</a:t>
            </a:r>
            <a:r>
              <a:rPr lang="en" sz="1800">
                <a:solidFill>
                  <a:schemeClr val="dk1"/>
                </a:solidFill>
              </a:rPr>
              <a:t>: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n" sz="1800">
                <a:solidFill>
                  <a:schemeClr val="dk1"/>
                </a:solidFill>
              </a:rPr>
              <a:t> for initial index, 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h2</a:t>
            </a:r>
            <a:r>
              <a:rPr lang="en" sz="1800">
                <a:solidFill>
                  <a:schemeClr val="dk1"/>
                </a:solidFill>
              </a:rPr>
              <a:t> for step size.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Reduces clustering </a:t>
            </a:r>
            <a:r>
              <a:rPr b="1" lang="en" sz="1800">
                <a:solidFill>
                  <a:schemeClr val="dk1"/>
                </a:solidFill>
              </a:rPr>
              <a:t>even more</a:t>
            </a:r>
            <a:r>
              <a:rPr lang="en" sz="1800">
                <a:solidFill>
                  <a:schemeClr val="dk1"/>
                </a:solidFill>
              </a:rPr>
              <a:t> than quadratic probing.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76" name="Google Shape;27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525" y="625588"/>
            <a:ext cx="43719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1"/>
          <p:cNvSpPr txBox="1"/>
          <p:nvPr/>
        </p:nvSpPr>
        <p:spPr>
          <a:xfrm>
            <a:off x="90250" y="116600"/>
            <a:ext cx="232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Double Hashing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82" name="Google Shape;28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200" y="542925"/>
            <a:ext cx="6284500" cy="431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7" name="Google Shape;287;p52"/>
          <p:cNvGraphicFramePr/>
          <p:nvPr/>
        </p:nvGraphicFramePr>
        <p:xfrm>
          <a:off x="152400" y="4617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{F7F9C531-FCEE-4B87-A1F0-29B0B99C9C32}</a:tableStyleId>
              </a:tblPr>
              <a:tblGrid>
                <a:gridCol w="1343025"/>
                <a:gridCol w="1657350"/>
                <a:gridCol w="981075"/>
                <a:gridCol w="1781175"/>
                <a:gridCol w="2955975"/>
              </a:tblGrid>
              <a:tr h="59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Method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Idea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Extra Space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Problem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Example/Use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08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Separate Chaining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Linked list at each index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Yes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Slower with long chains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Flexible memory use, good when memory is not tight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Linear Probing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Check next slot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No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Primary clustering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Simple, fast for low load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Quadratic Probing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Jump in squares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No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Secondary clustering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Medium load factor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Double Hashing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Use 2 hash functions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No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More complex to compute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Best performance, fewer collisions</a:t>
                      </a:r>
                      <a:endParaRPr sz="17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52"/>
          <p:cNvSpPr txBox="1"/>
          <p:nvPr/>
        </p:nvSpPr>
        <p:spPr>
          <a:xfrm>
            <a:off x="0" y="0"/>
            <a:ext cx="6256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Comparison of Collision Resolution Techniques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